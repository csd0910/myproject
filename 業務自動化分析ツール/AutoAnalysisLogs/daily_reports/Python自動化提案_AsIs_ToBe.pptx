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長期欠品フラグ更新業務</a:t>
            </a:r>
          </a:p>
          <a:p>
            <a:r>
              <a:t>DX（Python自動化）提案書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手作業とマニュアルの完全解析に基づく抜本的改善アプローチ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業務①：CSVデータの流し込みと数式展開（データ更新）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solidFill>
            <a:srgbClr val="F0C8C8"/>
          </a:solidFill>
          <a:ln>
            <a:solidFill>
              <a:srgbClr val="C8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>
              <a:defRPr b="1" sz="2400">
                <a:solidFill>
                  <a:srgbClr val="960000"/>
                </a:solidFill>
              </a:defRPr>
            </a:pPr>
            <a:r>
              <a:t>【現在の手作業（As-Is）】</a:t>
            </a:r>
          </a:p>
          <a:p>
            <a:pPr>
              <a:spcBef>
                <a:spcPts val="1000"/>
              </a:spcBef>
              <a:defRPr sz="1800">
                <a:solidFill>
                  <a:srgbClr val="323232"/>
                </a:solidFill>
              </a:defRPr>
            </a:pPr>
            <a:r>
              <a:t>・システムから抽出した『品目』『未入荷』のCSVデータを、人間が手作業でシートにコピペしている。</a:t>
            </a:r>
          </a:p>
          <a:p>
            <a:pPr>
              <a:spcBef>
                <a:spcPts val="1000"/>
              </a:spcBef>
              <a:defRPr sz="1800">
                <a:solidFill>
                  <a:srgbClr val="323232"/>
                </a:solidFill>
              </a:defRPr>
            </a:pPr>
            <a:r>
              <a:t>・『①長期欠品』シートのI列～AF列（20列以上）のVLOOKUP数式を、数十万行下までオートフィルでコピー（約530万セルの更新）。</a:t>
            </a:r>
          </a:p>
          <a:p>
            <a:pPr>
              <a:spcBef>
                <a:spcPts val="1000"/>
              </a:spcBef>
              <a:defRPr sz="1800">
                <a:solidFill>
                  <a:srgbClr val="323232"/>
                </a:solidFill>
              </a:defRPr>
            </a:pPr>
            <a:r>
              <a:t>・Excelが処理限界を超え、「1分ほど固まる」というマニュアル記載があるほど重い。</a:t>
            </a:r>
          </a:p>
          <a:p>
            <a:pPr>
              <a:spcBef>
                <a:spcPts val="1000"/>
              </a:spcBef>
              <a:defRPr sz="1800">
                <a:solidFill>
                  <a:srgbClr val="323232"/>
                </a:solidFill>
              </a:defRPr>
            </a:pPr>
            <a:r>
              <a:t>・フリーズを防ぐため、さらに「数式を値として貼り付け直す」という無駄な後処理が発生。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371600"/>
            <a:ext cx="5486400" cy="5029200"/>
          </a:xfrm>
          <a:prstGeom prst="rect">
            <a:avLst/>
          </a:prstGeom>
          <a:solidFill>
            <a:srgbClr val="C8F0C8"/>
          </a:solidFill>
          <a:ln>
            <a:solidFill>
              <a:srgbClr val="32C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>
              <a:defRPr b="1" sz="2400">
                <a:solidFill>
                  <a:srgbClr val="006400"/>
                </a:solidFill>
              </a:defRPr>
            </a:pPr>
            <a:r>
              <a:t>【Python自動化後（To-Be）】</a:t>
            </a:r>
          </a:p>
          <a:p>
            <a:pPr>
              <a:spcBef>
                <a:spcPts val="1000"/>
              </a:spcBef>
              <a:defRPr sz="1800">
                <a:solidFill>
                  <a:srgbClr val="323232"/>
                </a:solidFill>
              </a:defRPr>
            </a:pPr>
            <a:r>
              <a:t>・Python (pandas) が2つのCSVデータをバックグラウンドで瞬時に読み込む。</a:t>
            </a:r>
          </a:p>
          <a:p>
            <a:pPr>
              <a:spcBef>
                <a:spcPts val="1000"/>
              </a:spcBef>
              <a:defRPr sz="1800">
                <a:solidFill>
                  <a:srgbClr val="323232"/>
                </a:solidFill>
              </a:defRPr>
            </a:pPr>
            <a:r>
              <a:t>・ExcelのVLOOKUP関数を使わず、Pythonのメモリ上で直接データを結合（マージ）する。</a:t>
            </a:r>
          </a:p>
          <a:p>
            <a:pPr>
              <a:spcBef>
                <a:spcPts val="1000"/>
              </a:spcBef>
              <a:defRPr sz="1800">
                <a:solidFill>
                  <a:srgbClr val="323232"/>
                </a:solidFill>
              </a:defRPr>
            </a:pPr>
            <a:r>
              <a:t>・「1分固まる」処理が【数秒～10秒程度】で完了し、フリーズは一切起こらない。</a:t>
            </a:r>
          </a:p>
          <a:p>
            <a:pPr>
              <a:spcBef>
                <a:spcPts val="1000"/>
              </a:spcBef>
              <a:defRPr sz="1800">
                <a:solidFill>
                  <a:srgbClr val="323232"/>
                </a:solidFill>
              </a:defRPr>
            </a:pPr>
            <a:r>
              <a:t>・計算式ではなく「値」だけを持った完成版のExcelファイルを一発で出力するため、値貼り付け作業が消滅。</a:t>
            </a:r>
          </a:p>
        </p:txBody>
      </p:sp>
      <p:sp>
        <p:nvSpPr>
          <p:cNvPr id="5" name="Right Arrow 4"/>
          <p:cNvSpPr/>
          <p:nvPr/>
        </p:nvSpPr>
        <p:spPr>
          <a:xfrm>
            <a:off x="5943600" y="3657600"/>
            <a:ext cx="274320" cy="457200"/>
          </a:xfrm>
          <a:prstGeom prst="right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業務②：欠品フラグ解除の判定・リスト化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solidFill>
            <a:srgbClr val="F0C8C8"/>
          </a:solidFill>
          <a:ln>
            <a:solidFill>
              <a:srgbClr val="C8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>
              <a:defRPr b="1" sz="2400">
                <a:solidFill>
                  <a:srgbClr val="960000"/>
                </a:solidFill>
              </a:defRPr>
            </a:pPr>
            <a:r>
              <a:t>【現在の手作業（As-Is）】</a:t>
            </a:r>
          </a:p>
          <a:p>
            <a:pPr>
              <a:spcBef>
                <a:spcPts val="1000"/>
              </a:spcBef>
              <a:defRPr sz="1800">
                <a:solidFill>
                  <a:srgbClr val="323232"/>
                </a:solidFill>
              </a:defRPr>
            </a:pPr>
            <a:r>
              <a:t>・人間がCtrl+Fを使って商品を目視検索したり、AC～AE列の『解除OK』という文字をオートフィルタ等で目視で探している。</a:t>
            </a:r>
          </a:p>
          <a:p>
            <a:pPr>
              <a:spcBef>
                <a:spcPts val="1000"/>
              </a:spcBef>
              <a:defRPr sz="1800">
                <a:solidFill>
                  <a:srgbClr val="323232"/>
                </a:solidFill>
              </a:defRPr>
            </a:pPr>
            <a:r>
              <a:t>・マニュアルには「発注ランクが9997なら解除」「有効在庫&gt;0かつ納期未定なら解除」といった明確なIF条件があるが、Excelの数式に依存している。</a:t>
            </a:r>
          </a:p>
          <a:p>
            <a:pPr>
              <a:spcBef>
                <a:spcPts val="1000"/>
              </a:spcBef>
              <a:defRPr sz="1800">
                <a:solidFill>
                  <a:srgbClr val="323232"/>
                </a:solidFill>
              </a:defRPr>
            </a:pPr>
            <a:r>
              <a:t>・解除対象の商品コードと商品名をコピーし、手動で『②長期欠品解除』シートに貼り付けて移動させている。</a:t>
            </a:r>
          </a:p>
          <a:p>
            <a:pPr>
              <a:spcBef>
                <a:spcPts val="1000"/>
              </a:spcBef>
              <a:defRPr sz="1800">
                <a:solidFill>
                  <a:srgbClr val="323232"/>
                </a:solidFill>
              </a:defRPr>
            </a:pPr>
            <a:r>
              <a:t>・目視確認と手作業のコピペが介在するため、見落としや貼り付けミス（ヒューマンエラー）のリスクが非常に高い。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371600"/>
            <a:ext cx="5486400" cy="5029200"/>
          </a:xfrm>
          <a:prstGeom prst="rect">
            <a:avLst/>
          </a:prstGeom>
          <a:solidFill>
            <a:srgbClr val="C8F0C8"/>
          </a:solidFill>
          <a:ln>
            <a:solidFill>
              <a:srgbClr val="32C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>
              <a:defRPr b="1" sz="2400">
                <a:solidFill>
                  <a:srgbClr val="006400"/>
                </a:solidFill>
              </a:defRPr>
            </a:pPr>
            <a:r>
              <a:t>【Python自動化後（To-Be）】</a:t>
            </a:r>
          </a:p>
          <a:p>
            <a:pPr>
              <a:spcBef>
                <a:spcPts val="1000"/>
              </a:spcBef>
              <a:defRPr sz="1800">
                <a:solidFill>
                  <a:srgbClr val="323232"/>
                </a:solidFill>
              </a:defRPr>
            </a:pPr>
            <a:r>
              <a:t>・マニュアルのIF条件（ランク9997なら終売等）をPythonのプログラム内にルールとして完全移植。</a:t>
            </a:r>
          </a:p>
          <a:p>
            <a:pPr>
              <a:spcBef>
                <a:spcPts val="1000"/>
              </a:spcBef>
              <a:defRPr sz="1800">
                <a:solidFill>
                  <a:srgbClr val="323232"/>
                </a:solidFill>
              </a:defRPr>
            </a:pPr>
            <a:r>
              <a:t>・データの結合時に、Pythonが数万行の全データに対して瞬時にルール判定を実行。</a:t>
            </a:r>
          </a:p>
          <a:p>
            <a:pPr>
              <a:spcBef>
                <a:spcPts val="1000"/>
              </a:spcBef>
              <a:defRPr sz="1800">
                <a:solidFill>
                  <a:srgbClr val="323232"/>
                </a:solidFill>
              </a:defRPr>
            </a:pPr>
            <a:r>
              <a:t>・「解除OK」となった対象データだけを自動で抽出し、『②長期欠品解除』シートに最初から書き出しておく。</a:t>
            </a:r>
          </a:p>
          <a:p>
            <a:pPr>
              <a:spcBef>
                <a:spcPts val="1000"/>
              </a:spcBef>
              <a:defRPr sz="1800">
                <a:solidFill>
                  <a:srgbClr val="323232"/>
                </a:solidFill>
              </a:defRPr>
            </a:pPr>
            <a:r>
              <a:t>・担当者は【Pythonが出力した結果（②長期欠品解除シート）を最終確認するだけ】となり、検索とコピペの手作業がゼロになる。</a:t>
            </a:r>
          </a:p>
        </p:txBody>
      </p:sp>
      <p:sp>
        <p:nvSpPr>
          <p:cNvPr id="5" name="Right Arrow 4"/>
          <p:cNvSpPr/>
          <p:nvPr/>
        </p:nvSpPr>
        <p:spPr>
          <a:xfrm>
            <a:off x="5943600" y="3657600"/>
            <a:ext cx="274320" cy="457200"/>
          </a:xfrm>
          <a:prstGeom prst="right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