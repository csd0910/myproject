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長期欠品フラグ更新業務</a:t>
            </a:r>
          </a:p>
          <a:p>
            <a:r>
              <a:t>DX（Python自動化）時系列詳細比較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タイムスタンプと操作ログに基づくAs-Is / To-Be 比較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プロセス①：最新データ（CSV）の流し込み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【操作時刻】 14:48:22 ～ 14:48:29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solidFill>
            <a:srgbClr val="FFE6E6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b="1" sz="2200">
                <a:solidFill>
                  <a:srgbClr val="960000"/>
                </a:solidFill>
              </a:defRPr>
            </a:pPr>
            <a:r>
              <a:t>現在の手作業 (As-Is)</a:t>
            </a:r>
          </a:p>
          <a:p>
            <a:pPr>
              <a:spcBef>
                <a:spcPts val="1500"/>
              </a:spcBef>
              <a:defRPr sz="1800">
                <a:solidFill>
                  <a:srgbClr val="323232"/>
                </a:solidFill>
              </a:defRPr>
            </a:pPr>
            <a:r>
              <a:t>別ファイルから数万文字の最新データをコピー（Ctrl+C）し、「①長期欠品」シートのA3セル以降に手動で上書き貼り付け（Ctrl+V）。</a:t>
            </a:r>
          </a:p>
          <a:p>
            <a:pPr>
              <a:spcBef>
                <a:spcPts val="1500"/>
              </a:spcBef>
              <a:defRPr sz="1600">
                <a:solidFill>
                  <a:srgbClr val="643232"/>
                </a:solidFill>
              </a:defRPr>
            </a:pPr>
            <a:r>
              <a:t>【セルの変化】</a:t>
            </a:r>
            <a:br/>
            <a:r>
              <a:t>A3セル等（計2,627箇所）が上書き更新された。（例：840 → 9255 など）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103120"/>
            <a:ext cx="5486400" cy="4114800"/>
          </a:xfrm>
          <a:prstGeom prst="rect">
            <a:avLst/>
          </a:prstGeom>
          <a:solidFill>
            <a:srgbClr val="E6FFE6"/>
          </a:solidFill>
          <a:ln>
            <a:solidFill>
              <a:srgbClr val="32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b="1" sz="2200">
                <a:solidFill>
                  <a:srgbClr val="006400"/>
                </a:solidFill>
              </a:defRPr>
            </a:pPr>
            <a:r>
              <a:t>Python自動化後 (To-Be)</a:t>
            </a:r>
          </a:p>
          <a:p>
            <a:pPr>
              <a:spcBef>
                <a:spcPts val="1500"/>
              </a:spcBef>
              <a:defRPr sz="1800">
                <a:solidFill>
                  <a:srgbClr val="323232"/>
                </a:solidFill>
              </a:defRPr>
            </a:pPr>
            <a:r>
              <a:t>Pythonの pandas.read_csv() で、システム出力した『品目情報_新.csv』などをメモリ上に直接読み込む。人間がファイルを開く必要すらなし。</a:t>
            </a:r>
          </a:p>
          <a:p>
            <a:pPr>
              <a:spcBef>
                <a:spcPts val="1500"/>
              </a:spcBef>
              <a:defRPr sz="1600" b="1">
                <a:solidFill>
                  <a:srgbClr val="326432"/>
                </a:solidFill>
              </a:defRPr>
            </a:pPr>
            <a:r>
              <a:t>【処理時間】</a:t>
            </a:r>
            <a:br/>
            <a:r>
              <a:t>約 0.2 秒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3600" y="3657600"/>
            <a:ext cx="274320" cy="45720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プロセス②：数十万件のVLOOKUP数式再計算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【操作時刻】 14:49:14 ～ 14:49:20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solidFill>
            <a:srgbClr val="FFE6E6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b="1" sz="2200">
                <a:solidFill>
                  <a:srgbClr val="960000"/>
                </a:solidFill>
              </a:defRPr>
            </a:pPr>
            <a:r>
              <a:t>現在の手作業 (As-Is)</a:t>
            </a:r>
          </a:p>
          <a:p>
            <a:pPr>
              <a:spcBef>
                <a:spcPts val="1500"/>
              </a:spcBef>
              <a:defRPr sz="1800">
                <a:solidFill>
                  <a:srgbClr val="323232"/>
                </a:solidFill>
              </a:defRPr>
            </a:pPr>
            <a:r>
              <a:t>Tabキーで右に移動後、Ctrl+Shift+Downでシートの一番下（約60万行）まで選択し、I3～AF3のVLOOKUP数式を一気にオートフィル（Ctrl+V）。</a:t>
            </a:r>
            <a:br/>
            <a:r>
              <a:t>※マニュアルに「1分ほど固まる」と記載あり。</a:t>
            </a:r>
          </a:p>
          <a:p>
            <a:pPr>
              <a:spcBef>
                <a:spcPts val="1500"/>
              </a:spcBef>
              <a:defRPr sz="1600">
                <a:solidFill>
                  <a:srgbClr val="643232"/>
                </a:solidFill>
              </a:defRPr>
            </a:pPr>
            <a:r>
              <a:t>【セルの変化】</a:t>
            </a:r>
            <a:br/>
            <a:r>
              <a:t>Z列等の日付やデータが約530万箇所一気に更新。</a:t>
            </a:r>
            <a:br/>
            <a:r>
              <a:t>※Excelが一時フリーズし、値貼り付けの手間が発生。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103120"/>
            <a:ext cx="5486400" cy="4114800"/>
          </a:xfrm>
          <a:prstGeom prst="rect">
            <a:avLst/>
          </a:prstGeom>
          <a:solidFill>
            <a:srgbClr val="E6FFE6"/>
          </a:solidFill>
          <a:ln>
            <a:solidFill>
              <a:srgbClr val="32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b="1" sz="2200">
                <a:solidFill>
                  <a:srgbClr val="006400"/>
                </a:solidFill>
              </a:defRPr>
            </a:pPr>
            <a:r>
              <a:t>Python自動化後 (To-Be)</a:t>
            </a:r>
          </a:p>
          <a:p>
            <a:pPr>
              <a:spcBef>
                <a:spcPts val="1500"/>
              </a:spcBef>
              <a:defRPr sz="1800">
                <a:solidFill>
                  <a:srgbClr val="323232"/>
                </a:solidFill>
              </a:defRPr>
            </a:pPr>
            <a:r>
              <a:t>Python内で df.merge() を実行し、CSV同士を結合して必要な値（在庫数やランク）を引っ張ってくる処理をバックグラウンドで行う。数式を保存しないため重くならない。</a:t>
            </a:r>
          </a:p>
          <a:p>
            <a:pPr>
              <a:spcBef>
                <a:spcPts val="1500"/>
              </a:spcBef>
              <a:defRPr sz="1600" b="1">
                <a:solidFill>
                  <a:srgbClr val="326432"/>
                </a:solidFill>
              </a:defRPr>
            </a:pPr>
            <a:r>
              <a:t>【処理時間】</a:t>
            </a:r>
            <a:br/>
            <a:r>
              <a:t>約 2.0 秒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3600" y="3657600"/>
            <a:ext cx="274320" cy="45720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プロセス③：フラグ解除対象の目視検索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【操作時刻】 14:49:49 ～ 14:50:00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solidFill>
            <a:srgbClr val="FFE6E6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b="1" sz="2200">
                <a:solidFill>
                  <a:srgbClr val="960000"/>
                </a:solidFill>
              </a:defRPr>
            </a:pPr>
            <a:r>
              <a:t>現在の手作業 (As-Is)</a:t>
            </a:r>
          </a:p>
          <a:p>
            <a:pPr>
              <a:spcBef>
                <a:spcPts val="1500"/>
              </a:spcBef>
              <a:defRPr sz="1800">
                <a:solidFill>
                  <a:srgbClr val="323232"/>
                </a:solidFill>
              </a:defRPr>
            </a:pPr>
            <a:r>
              <a:t>Excel上で Ctrl+F を開き、「J232WF」や「JK4814」といった特定の欠品商品コードを延々と目視検索。AC列～AE列の判定（解除OK等）を見ながら手動で探す。</a:t>
            </a:r>
          </a:p>
          <a:p>
            <a:pPr>
              <a:spcBef>
                <a:spcPts val="1500"/>
              </a:spcBef>
              <a:defRPr sz="1600">
                <a:solidFill>
                  <a:srgbClr val="643232"/>
                </a:solidFill>
              </a:defRPr>
            </a:pPr>
            <a:r>
              <a:t>【セルの変化】</a:t>
            </a:r>
            <a:br/>
            <a:r>
              <a:t>セルの変化なし（目視と検索による待機・確認時間）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103120"/>
            <a:ext cx="5486400" cy="4114800"/>
          </a:xfrm>
          <a:prstGeom prst="rect">
            <a:avLst/>
          </a:prstGeom>
          <a:solidFill>
            <a:srgbClr val="E6FFE6"/>
          </a:solidFill>
          <a:ln>
            <a:solidFill>
              <a:srgbClr val="32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b="1" sz="2200">
                <a:solidFill>
                  <a:srgbClr val="006400"/>
                </a:solidFill>
              </a:defRPr>
            </a:pPr>
            <a:r>
              <a:t>Python自動化後 (To-Be)</a:t>
            </a:r>
          </a:p>
          <a:p>
            <a:pPr>
              <a:spcBef>
                <a:spcPts val="1500"/>
              </a:spcBef>
              <a:defRPr sz="1800">
                <a:solidFill>
                  <a:srgbClr val="323232"/>
                </a:solidFill>
              </a:defRPr>
            </a:pPr>
            <a:r>
              <a:t>マニュアルの判定ロジック（例：I列=9997なら解除OKなど）をプログラム化。Pythonが全データに対してIF条件を一瞬で通し、該当するリストだけを自動抽出。</a:t>
            </a:r>
          </a:p>
          <a:p>
            <a:pPr>
              <a:spcBef>
                <a:spcPts val="1500"/>
              </a:spcBef>
              <a:defRPr sz="1600" b="1">
                <a:solidFill>
                  <a:srgbClr val="326432"/>
                </a:solidFill>
              </a:defRPr>
            </a:pPr>
            <a:r>
              <a:t>【処理時間】</a:t>
            </a:r>
            <a:br/>
            <a:r>
              <a:t>約 0.1 秒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3600" y="3657600"/>
            <a:ext cx="274320" cy="45720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プロセス④：手作業による別シートへの移動・微修正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47120" cy="73152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【操作時刻】 14:50:07 ～ 14:52:50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5486400" cy="4114800"/>
          </a:xfrm>
          <a:prstGeom prst="rect">
            <a:avLst/>
          </a:prstGeom>
          <a:solidFill>
            <a:srgbClr val="FFE6E6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b="1" sz="2200">
                <a:solidFill>
                  <a:srgbClr val="960000"/>
                </a:solidFill>
              </a:defRPr>
            </a:pPr>
            <a:r>
              <a:t>現在の手作業 (As-Is)</a:t>
            </a:r>
          </a:p>
          <a:p>
            <a:pPr>
              <a:spcBef>
                <a:spcPts val="1500"/>
              </a:spcBef>
              <a:defRPr sz="1800">
                <a:solidFill>
                  <a:srgbClr val="323232"/>
                </a:solidFill>
              </a:defRPr>
            </a:pPr>
            <a:r>
              <a:t>「解除OK」となった品目をコピーし、「②長期欠品解除」シートへ手動で貼り付け。さらに「社外サイト販売休止」シートの欠品数を矢印キーで移動しながら手修正。</a:t>
            </a:r>
          </a:p>
          <a:p>
            <a:pPr>
              <a:spcBef>
                <a:spcPts val="1500"/>
              </a:spcBef>
              <a:defRPr sz="1600">
                <a:solidFill>
                  <a:srgbClr val="643232"/>
                </a:solidFill>
              </a:defRPr>
            </a:pPr>
            <a:r>
              <a:t>【セルの変化】</a:t>
            </a:r>
            <a:br/>
            <a:r>
              <a:t>「②長期欠品解除」シートに5,649箇所のデータが追加。</a:t>
            </a:r>
            <a:br/>
            <a:r>
              <a:t>「社外サイト」のM44セル等が修正（31→56等）。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103120"/>
            <a:ext cx="5486400" cy="4114800"/>
          </a:xfrm>
          <a:prstGeom prst="rect">
            <a:avLst/>
          </a:prstGeom>
          <a:solidFill>
            <a:srgbClr val="E6FFE6"/>
          </a:solidFill>
          <a:ln>
            <a:solidFill>
              <a:srgbClr val="32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b="1" sz="2200">
                <a:solidFill>
                  <a:srgbClr val="006400"/>
                </a:solidFill>
              </a:defRPr>
            </a:pPr>
            <a:r>
              <a:t>Python自動化後 (To-Be)</a:t>
            </a:r>
          </a:p>
          <a:p>
            <a:pPr>
              <a:spcBef>
                <a:spcPts val="1500"/>
              </a:spcBef>
              <a:defRPr sz="1800">
                <a:solidFill>
                  <a:srgbClr val="323232"/>
                </a:solidFill>
              </a:defRPr>
            </a:pPr>
            <a:r>
              <a:t>プロセス③で自動抽出したリストを、「②長期欠品解除」シートに最初から完成した状態で出力（to_excel()）。</a:t>
            </a:r>
            <a:br/>
            <a:r>
              <a:t>社外サイトの欠品数も差分から自動反映。</a:t>
            </a:r>
          </a:p>
          <a:p>
            <a:pPr>
              <a:spcBef>
                <a:spcPts val="1500"/>
              </a:spcBef>
              <a:defRPr sz="1600" b="1">
                <a:solidFill>
                  <a:srgbClr val="326432"/>
                </a:solidFill>
              </a:defRPr>
            </a:pPr>
            <a:r>
              <a:t>【処理時間】</a:t>
            </a:r>
            <a:br/>
            <a:r>
              <a:t>約 1.5 秒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3600" y="3657600"/>
            <a:ext cx="274320" cy="45720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