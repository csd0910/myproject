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latin typeface="Meiryo UI"/>
              </a:defRPr>
            </a:pPr>
            <a:r>
              <a:t>DX Reverse Engineering Engine</a:t>
            </a:r>
          </a:p>
          <a:p>
            <a:pPr algn="ctr">
              <a:defRPr sz="2400">
                <a:solidFill>
                  <a:srgbClr val="646464"/>
                </a:solidFill>
                <a:latin typeface="Meiryo UI"/>
              </a:defRPr>
            </a:pPr>
            <a:r>
              <a:t>〜 人間の無意識操作を可視化し、業務をリバースエンジニアリングする究極のエンジン 〜</a:t>
            </a:r>
            <a:br/>
            <a:r>
              <a:t>システムアーキテクチャ・動作要件仕様書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eiryo UI"/>
              </a:defRPr>
            </a:pPr>
            <a:r>
              <a:t>システム動作要件および技術仕様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latin typeface="Meiryo UI"/>
              </a:defRPr>
            </a:pPr>
            <a:r>
              <a:t>■ 動作環境 (インフラ・OS)</a:t>
            </a:r>
          </a:p>
          <a:p>
            <a:pPr lvl="1">
              <a:defRPr sz="1800" b="0">
                <a:latin typeface="Meiryo UI"/>
              </a:defRPr>
            </a:pPr>
            <a:r>
              <a:t>対象OS: Windows 10 / 11 (64bit)</a:t>
            </a:r>
          </a:p>
          <a:p>
            <a:pPr lvl="1">
              <a:defRPr sz="1800" b="0">
                <a:latin typeface="Meiryo UI"/>
              </a:defRPr>
            </a:pPr>
            <a:r>
              <a:t>必要ソフトウェア: Microsoft Excel (デスクトップ版 / COMアドイン対応必須)</a:t>
            </a:r>
          </a:p>
          <a:p>
            <a:pPr lvl="1">
              <a:defRPr sz="1800" b="0">
                <a:latin typeface="Meiryo UI"/>
              </a:defRPr>
            </a:pPr>
            <a:r>
              <a:t>実行形態: PyInstallerによるスタンドアロン単一EXE (DX_Reverse_Engine_v2.exe)</a:t>
            </a:r>
          </a:p>
          <a:p>
            <a:br/>
            <a:pPr>
              <a:defRPr sz="2000" b="1">
                <a:latin typeface="Meiryo UI"/>
              </a:defRPr>
            </a:pPr>
            <a:r>
              <a:t>■ 構成モジュール一覧</a:t>
            </a:r>
          </a:p>
          <a:p>
            <a:pPr lvl="1">
              <a:defRPr sz="1800" b="0">
                <a:latin typeface="Meiryo UI"/>
              </a:defRPr>
            </a:pPr>
            <a:r>
              <a:t>system_logger.py: キー打鍵(pynput)・クリップボード(pywin32)・Excel COMイベント(win32com)の常駐監視</a:t>
            </a:r>
          </a:p>
          <a:p>
            <a:pPr lvl="1">
              <a:defRPr sz="1800" b="0">
                <a:latin typeface="Meiryo UI"/>
              </a:defRPr>
            </a:pPr>
            <a:r>
              <a:t>evaluate_log.py: Gemini APIを用いた人間的意図（迷い・Web転記など）のAIコンテキスト推論</a:t>
            </a:r>
          </a:p>
          <a:p>
            <a:pPr lvl="1">
              <a:defRPr sz="1800" b="0">
                <a:latin typeface="Meiryo UI"/>
              </a:defRPr>
            </a:pPr>
            <a:r>
              <a:t>generate_visual_excel_report.py: AI推論結果をExcel上にネイティブ図形(Callout)として動的描画</a:t>
            </a:r>
          </a:p>
          <a:p>
            <a:pPr lvl="1">
              <a:defRPr sz="1800" b="0">
                <a:latin typeface="Meiryo UI"/>
              </a:defRPr>
            </a:pPr>
            <a:r>
              <a:t>formula_analyzer.py: Excel内の隠し数式を全走査し、暗黙の計算ロジックをリバースエンジニアリング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eiryo UI"/>
              </a:defRPr>
            </a:pPr>
            <a:r>
              <a:t>【図解チャート】 リバースエンジニアリング・処理フロー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1097280"/>
          </a:xfrm>
          <a:prstGeom prst="round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Meiryo UI"/>
              </a:defRPr>
            </a:pPr>
            <a:r>
              <a:t>STEP 1</a:t>
            </a:r>
          </a:p>
          <a:p>
            <a:r>
              <a:t>メタデータ強制抽出</a:t>
            </a:r>
          </a:p>
          <a:p>
            <a:r>
              <a:t>(system_logger)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・キー打鍵/コピー</a:t>
            </a:r>
          </a:p>
          <a:p>
            <a:r>
              <a:t>・フルパス/フィルター</a:t>
            </a:r>
          </a:p>
          <a:p>
            <a:r>
              <a:t>・セル色/ソート状態</a:t>
            </a:r>
          </a:p>
          <a:p>
            <a:r>
              <a:t>※Excel裏側から全検知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2194560"/>
            <a:ext cx="548640" cy="365759"/>
          </a:xfrm>
          <a:prstGeom prst="right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286000" cy="1097280"/>
          </a:xfrm>
          <a:prstGeom prst="roundRect">
            <a:avLst/>
          </a:prstGeom>
          <a:solidFill>
            <a:srgbClr val="FFDC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Meiryo UI"/>
              </a:defRPr>
            </a:pPr>
            <a:r>
              <a:t>STEP 2</a:t>
            </a:r>
          </a:p>
          <a:p>
            <a:r>
              <a:t>AI 意味解釈・推論</a:t>
            </a:r>
          </a:p>
          <a:p>
            <a:r>
              <a:t>(evaluate_log)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2608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・Gemini API連携</a:t>
            </a:r>
          </a:p>
          <a:p>
            <a:r>
              <a:t>・Alt+Tab等の迷い検知</a:t>
            </a:r>
          </a:p>
          <a:p>
            <a:r>
              <a:t>・行動の『なぜ』を推論</a:t>
            </a:r>
          </a:p>
          <a:p>
            <a:r>
              <a:t>・ログの自然言語化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39" cy="365759"/>
          </a:xfrm>
          <a:prstGeom prst="right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2286000" cy="1097280"/>
          </a:xfrm>
          <a:prstGeom prst="roundRect">
            <a:avLst/>
          </a:prstGeom>
          <a:solidFill>
            <a:srgbClr val="C8FF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Meiryo UI"/>
              </a:defRPr>
            </a:pPr>
            <a:r>
              <a:t>STEP 3</a:t>
            </a:r>
          </a:p>
          <a:p>
            <a:r>
              <a:t>ネイティブ図解生成</a:t>
            </a:r>
          </a:p>
          <a:p>
            <a:r>
              <a:t>(VisualReport生成)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・対象セルへ自動描画</a:t>
            </a:r>
          </a:p>
          <a:p>
            <a:r>
              <a:t>・純正吹き出しの配置</a:t>
            </a:r>
          </a:p>
          <a:p>
            <a:r>
              <a:t>・【担当者記載欄】追記</a:t>
            </a:r>
          </a:p>
          <a:p>
            <a:r>
              <a:t>・ファイルロック回避搭載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69680" y="2194560"/>
            <a:ext cx="548640" cy="365759"/>
          </a:xfrm>
          <a:prstGeom prst="right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286000" cy="1097280"/>
          </a:xfrm>
          <a:prstGeom prst="roundRect">
            <a:avLst/>
          </a:prstGeom>
          <a:solidFill>
            <a:srgbClr val="FFFF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Meiryo UI"/>
              </a:defRPr>
            </a:pPr>
            <a:r>
              <a:t>STEP 4</a:t>
            </a:r>
          </a:p>
          <a:p>
            <a:r>
              <a:t>人間による暗黙知補完</a:t>
            </a:r>
          </a:p>
          <a:p>
            <a:r>
              <a:t>(Operator Annotation)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92608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・担当者が理由を記入</a:t>
            </a:r>
          </a:p>
          <a:p>
            <a:r>
              <a:t>・客観ログ＋主観コメント</a:t>
            </a:r>
          </a:p>
          <a:p>
            <a:r>
              <a:t>・暗黙のルールを完全抽出</a:t>
            </a:r>
          </a:p>
          <a:p>
            <a:r>
              <a:t>・Python自動化の設計図へ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338560" cy="9144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Meiryo UI"/>
              </a:defRPr>
            </a:pPr>
            <a:r>
              <a:t>【並行解析モジュール】 関数・隠しロジック抽出エンジン (formula_analyzer.py)</a:t>
            </a:r>
          </a:p>
          <a:p>
            <a:r>
              <a:t>対象ファイルの裏にある膨大なVLOOKUPや条件分岐の全数式をスキャンし、UI上の操作と内部計算を紐づける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