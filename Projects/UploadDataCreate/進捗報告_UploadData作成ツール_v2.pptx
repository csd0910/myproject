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64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394B9F-B491-4E36-AB89-2DFF560CCF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411A8B-DC87-4C97-82AD-C1764AF701CA}">
      <dgm:prSet/>
      <dgm:spPr/>
      <dgm:t>
        <a:bodyPr/>
        <a:lstStyle/>
        <a:p>
          <a:r>
            <a:rPr lang="en-US" b="1" dirty="0" err="1"/>
            <a:t>現場の担当者が直感的に操作できるよう、対話型UIを構築しました</a:t>
          </a:r>
          <a:r>
            <a:rPr lang="en-US" b="1" dirty="0"/>
            <a:t>。</a:t>
          </a:r>
          <a:endParaRPr lang="en-US" dirty="0"/>
        </a:p>
      </dgm:t>
    </dgm:pt>
    <dgm:pt modelId="{F52CB7E9-39C8-4014-9431-165D2774099D}" type="parTrans" cxnId="{4BE02FD8-F19C-4300-9727-690B3AC0F189}">
      <dgm:prSet/>
      <dgm:spPr/>
      <dgm:t>
        <a:bodyPr/>
        <a:lstStyle/>
        <a:p>
          <a:endParaRPr lang="en-US"/>
        </a:p>
      </dgm:t>
    </dgm:pt>
    <dgm:pt modelId="{0A8EED54-C478-4F1E-83B7-F1450F7B23C8}" type="sibTrans" cxnId="{4BE02FD8-F19C-4300-9727-690B3AC0F189}">
      <dgm:prSet/>
      <dgm:spPr/>
      <dgm:t>
        <a:bodyPr/>
        <a:lstStyle/>
        <a:p>
          <a:endParaRPr lang="en-US"/>
        </a:p>
      </dgm:t>
    </dgm:pt>
    <dgm:pt modelId="{9E125DF8-AABA-4D0A-8C66-D04D8149DE23}">
      <dgm:prSet/>
      <dgm:spPr/>
      <dgm:t>
        <a:bodyPr/>
        <a:lstStyle/>
        <a:p>
          <a:r>
            <a:rPr lang="en-US" b="0" dirty="0"/>
            <a:t>・</a:t>
          </a:r>
          <a:r>
            <a:rPr lang="en-US" b="0" dirty="0" err="1"/>
            <a:t>自動ファイル検出：対象ファイルを自動でセットし手間を削減</a:t>
          </a:r>
          <a:endParaRPr lang="en-US" dirty="0"/>
        </a:p>
      </dgm:t>
    </dgm:pt>
    <dgm:pt modelId="{6F5C4B10-1B90-4BE1-9AD9-4FC2F0EE9ABF}" type="parTrans" cxnId="{FA9F2101-9A05-4AC9-A8A7-23EF3B88FB90}">
      <dgm:prSet/>
      <dgm:spPr/>
      <dgm:t>
        <a:bodyPr/>
        <a:lstStyle/>
        <a:p>
          <a:endParaRPr lang="en-US"/>
        </a:p>
      </dgm:t>
    </dgm:pt>
    <dgm:pt modelId="{B41DCC1E-AF2B-4431-927E-9F824302F80E}" type="sibTrans" cxnId="{FA9F2101-9A05-4AC9-A8A7-23EF3B88FB90}">
      <dgm:prSet/>
      <dgm:spPr/>
      <dgm:t>
        <a:bodyPr/>
        <a:lstStyle/>
        <a:p>
          <a:endParaRPr lang="en-US"/>
        </a:p>
      </dgm:t>
    </dgm:pt>
    <dgm:pt modelId="{ED7D7D7C-8810-4B38-AD5C-25C59DF16C0F}">
      <dgm:prSet/>
      <dgm:spPr/>
      <dgm:t>
        <a:bodyPr/>
        <a:lstStyle/>
        <a:p>
          <a:r>
            <a:rPr lang="en-US" b="0" dirty="0"/>
            <a:t>・</a:t>
          </a:r>
          <a:r>
            <a:rPr lang="en-US" b="0" dirty="0" err="1"/>
            <a:t>チャットボット風案内：次に何をするか、処理結果を都度可視化</a:t>
          </a:r>
          <a:endParaRPr lang="en-US" dirty="0"/>
        </a:p>
      </dgm:t>
    </dgm:pt>
    <dgm:pt modelId="{E116E86F-C65A-48DA-944F-97FE2998CFD8}" type="parTrans" cxnId="{BF5BAC66-8442-4B61-8CD5-2326ABDA16B2}">
      <dgm:prSet/>
      <dgm:spPr/>
      <dgm:t>
        <a:bodyPr/>
        <a:lstStyle/>
        <a:p>
          <a:endParaRPr lang="en-US"/>
        </a:p>
      </dgm:t>
    </dgm:pt>
    <dgm:pt modelId="{4E4D4295-E731-41C3-913E-53C8506E33AB}" type="sibTrans" cxnId="{BF5BAC66-8442-4B61-8CD5-2326ABDA16B2}">
      <dgm:prSet/>
      <dgm:spPr/>
      <dgm:t>
        <a:bodyPr/>
        <a:lstStyle/>
        <a:p>
          <a:endParaRPr lang="en-US"/>
        </a:p>
      </dgm:t>
    </dgm:pt>
    <dgm:pt modelId="{36B2AC85-E789-4E8A-9F86-4533F0DE6DD9}" type="pres">
      <dgm:prSet presAssocID="{14394B9F-B491-4E36-AB89-2DFF560CCFA0}" presName="linear" presStyleCnt="0">
        <dgm:presLayoutVars>
          <dgm:animLvl val="lvl"/>
          <dgm:resizeHandles val="exact"/>
        </dgm:presLayoutVars>
      </dgm:prSet>
      <dgm:spPr/>
    </dgm:pt>
    <dgm:pt modelId="{DB5BFA7C-2B67-4742-895E-72B71BC24BE5}" type="pres">
      <dgm:prSet presAssocID="{90411A8B-DC87-4C97-82AD-C1764AF701C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6E1D4C2-27E9-4E44-A4ED-72A913757654}" type="pres">
      <dgm:prSet presAssocID="{0A8EED54-C478-4F1E-83B7-F1450F7B23C8}" presName="spacer" presStyleCnt="0"/>
      <dgm:spPr/>
    </dgm:pt>
    <dgm:pt modelId="{13DB232C-9570-44D7-8707-DAA619650EF9}" type="pres">
      <dgm:prSet presAssocID="{9E125DF8-AABA-4D0A-8C66-D04D8149DE2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2146529-1C2B-4918-A75E-B1B99A79EC4F}" type="pres">
      <dgm:prSet presAssocID="{B41DCC1E-AF2B-4431-927E-9F824302F80E}" presName="spacer" presStyleCnt="0"/>
      <dgm:spPr/>
    </dgm:pt>
    <dgm:pt modelId="{64BF956A-1E6D-4A3A-BCAD-CBF6FCCEFA26}" type="pres">
      <dgm:prSet presAssocID="{ED7D7D7C-8810-4B38-AD5C-25C59DF16C0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A9F2101-9A05-4AC9-A8A7-23EF3B88FB90}" srcId="{14394B9F-B491-4E36-AB89-2DFF560CCFA0}" destId="{9E125DF8-AABA-4D0A-8C66-D04D8149DE23}" srcOrd="1" destOrd="0" parTransId="{6F5C4B10-1B90-4BE1-9AD9-4FC2F0EE9ABF}" sibTransId="{B41DCC1E-AF2B-4431-927E-9F824302F80E}"/>
    <dgm:cxn modelId="{41FAA923-F0CA-4DD9-9E5A-A3C50302159A}" type="presOf" srcId="{ED7D7D7C-8810-4B38-AD5C-25C59DF16C0F}" destId="{64BF956A-1E6D-4A3A-BCAD-CBF6FCCEFA26}" srcOrd="0" destOrd="0" presId="urn:microsoft.com/office/officeart/2005/8/layout/vList2"/>
    <dgm:cxn modelId="{16B50C5F-D14B-40F1-A435-1394A90E696B}" type="presOf" srcId="{90411A8B-DC87-4C97-82AD-C1764AF701CA}" destId="{DB5BFA7C-2B67-4742-895E-72B71BC24BE5}" srcOrd="0" destOrd="0" presId="urn:microsoft.com/office/officeart/2005/8/layout/vList2"/>
    <dgm:cxn modelId="{BF5BAC66-8442-4B61-8CD5-2326ABDA16B2}" srcId="{14394B9F-B491-4E36-AB89-2DFF560CCFA0}" destId="{ED7D7D7C-8810-4B38-AD5C-25C59DF16C0F}" srcOrd="2" destOrd="0" parTransId="{E116E86F-C65A-48DA-944F-97FE2998CFD8}" sibTransId="{4E4D4295-E731-41C3-913E-53C8506E33AB}"/>
    <dgm:cxn modelId="{634D3957-A62E-4DB4-AF38-B7695EB49693}" type="presOf" srcId="{9E125DF8-AABA-4D0A-8C66-D04D8149DE23}" destId="{13DB232C-9570-44D7-8707-DAA619650EF9}" srcOrd="0" destOrd="0" presId="urn:microsoft.com/office/officeart/2005/8/layout/vList2"/>
    <dgm:cxn modelId="{F6AECA59-546E-4B08-8F1D-20D16673CA09}" type="presOf" srcId="{14394B9F-B491-4E36-AB89-2DFF560CCFA0}" destId="{36B2AC85-E789-4E8A-9F86-4533F0DE6DD9}" srcOrd="0" destOrd="0" presId="urn:microsoft.com/office/officeart/2005/8/layout/vList2"/>
    <dgm:cxn modelId="{4BE02FD8-F19C-4300-9727-690B3AC0F189}" srcId="{14394B9F-B491-4E36-AB89-2DFF560CCFA0}" destId="{90411A8B-DC87-4C97-82AD-C1764AF701CA}" srcOrd="0" destOrd="0" parTransId="{F52CB7E9-39C8-4014-9431-165D2774099D}" sibTransId="{0A8EED54-C478-4F1E-83B7-F1450F7B23C8}"/>
    <dgm:cxn modelId="{B38168A6-C0D1-447B-B89A-D63F8C89D98E}" type="presParOf" srcId="{36B2AC85-E789-4E8A-9F86-4533F0DE6DD9}" destId="{DB5BFA7C-2B67-4742-895E-72B71BC24BE5}" srcOrd="0" destOrd="0" presId="urn:microsoft.com/office/officeart/2005/8/layout/vList2"/>
    <dgm:cxn modelId="{A318D5B6-ACFB-456F-BE2E-674626E8BAE7}" type="presParOf" srcId="{36B2AC85-E789-4E8A-9F86-4533F0DE6DD9}" destId="{26E1D4C2-27E9-4E44-A4ED-72A913757654}" srcOrd="1" destOrd="0" presId="urn:microsoft.com/office/officeart/2005/8/layout/vList2"/>
    <dgm:cxn modelId="{51521020-801C-444F-BD6A-D0F1B1CC6B6B}" type="presParOf" srcId="{36B2AC85-E789-4E8A-9F86-4533F0DE6DD9}" destId="{13DB232C-9570-44D7-8707-DAA619650EF9}" srcOrd="2" destOrd="0" presId="urn:microsoft.com/office/officeart/2005/8/layout/vList2"/>
    <dgm:cxn modelId="{96D6D191-E84A-4511-9826-3E8604A2E427}" type="presParOf" srcId="{36B2AC85-E789-4E8A-9F86-4533F0DE6DD9}" destId="{82146529-1C2B-4918-A75E-B1B99A79EC4F}" srcOrd="3" destOrd="0" presId="urn:microsoft.com/office/officeart/2005/8/layout/vList2"/>
    <dgm:cxn modelId="{A7DAD382-C834-4B6F-BBA7-348A7FD85865}" type="presParOf" srcId="{36B2AC85-E789-4E8A-9F86-4533F0DE6DD9}" destId="{64BF956A-1E6D-4A3A-BCAD-CBF6FCCEFA2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5BFA7C-2B67-4742-895E-72B71BC24BE5}">
      <dsp:nvSpPr>
        <dsp:cNvPr id="0" name=""/>
        <dsp:cNvSpPr/>
      </dsp:nvSpPr>
      <dsp:spPr>
        <a:xfrm>
          <a:off x="0" y="401779"/>
          <a:ext cx="3130949" cy="589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/>
            <a:t>現場の担当者が直感的に操作できるよう、対話型UIを構築しました</a:t>
          </a:r>
          <a:r>
            <a:rPr lang="en-US" sz="1400" b="1" kern="1200" dirty="0"/>
            <a:t>。</a:t>
          </a:r>
          <a:endParaRPr lang="en-US" sz="1400" kern="1200" dirty="0"/>
        </a:p>
      </dsp:txBody>
      <dsp:txXfrm>
        <a:off x="28786" y="430565"/>
        <a:ext cx="3073377" cy="532108"/>
      </dsp:txXfrm>
    </dsp:sp>
    <dsp:sp modelId="{13DB232C-9570-44D7-8707-DAA619650EF9}">
      <dsp:nvSpPr>
        <dsp:cNvPr id="0" name=""/>
        <dsp:cNvSpPr/>
      </dsp:nvSpPr>
      <dsp:spPr>
        <a:xfrm>
          <a:off x="0" y="1031779"/>
          <a:ext cx="3130949" cy="589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・</a:t>
          </a:r>
          <a:r>
            <a:rPr lang="en-US" sz="1400" b="0" kern="1200" dirty="0" err="1"/>
            <a:t>自動ファイル検出：対象ファイルを自動でセットし手間を削減</a:t>
          </a:r>
          <a:endParaRPr lang="en-US" sz="1400" kern="1200" dirty="0"/>
        </a:p>
      </dsp:txBody>
      <dsp:txXfrm>
        <a:off x="28786" y="1060565"/>
        <a:ext cx="3073377" cy="532108"/>
      </dsp:txXfrm>
    </dsp:sp>
    <dsp:sp modelId="{64BF956A-1E6D-4A3A-BCAD-CBF6FCCEFA26}">
      <dsp:nvSpPr>
        <dsp:cNvPr id="0" name=""/>
        <dsp:cNvSpPr/>
      </dsp:nvSpPr>
      <dsp:spPr>
        <a:xfrm>
          <a:off x="0" y="1661778"/>
          <a:ext cx="3130949" cy="589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・</a:t>
          </a:r>
          <a:r>
            <a:rPr lang="en-US" sz="1400" b="0" kern="1200" dirty="0" err="1"/>
            <a:t>チャットボット風案内：次に何をするか、処理結果を都度可視化</a:t>
          </a:r>
          <a:endParaRPr lang="en-US" sz="1400" kern="1200" dirty="0"/>
        </a:p>
      </dsp:txBody>
      <dsp:txXfrm>
        <a:off x="28786" y="1690564"/>
        <a:ext cx="3073377" cy="5321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1033272"/>
            <a:ext cx="4419055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1" y="5733288"/>
            <a:ext cx="4419053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8364" y="793818"/>
            <a:ext cx="3945636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03940" y="207982"/>
            <a:ext cx="1997099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5197367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1" y="5420250"/>
            <a:ext cx="5197367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70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612648"/>
            <a:ext cx="8440251" cy="1106424"/>
          </a:xfrm>
        </p:spPr>
        <p:txBody>
          <a:bodyPr/>
          <a:lstStyle>
            <a:lvl1pPr>
              <a:defRPr sz="495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9" y="2139696"/>
            <a:ext cx="8440251" cy="428853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84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5223554"/>
            <a:ext cx="85725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6083090"/>
            <a:ext cx="85724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914171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678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030" y="758952"/>
            <a:ext cx="569214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030" y="5404104"/>
            <a:ext cx="8636458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6254496"/>
            <a:ext cx="2222769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41306" y="6254496"/>
            <a:ext cx="125973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254496"/>
            <a:ext cx="409835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847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セクション見出し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" y="1435608"/>
            <a:ext cx="8695944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11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081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8" y="886968"/>
            <a:ext cx="8553958" cy="1170432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661" y="2832653"/>
            <a:ext cx="5170289" cy="3508951"/>
          </a:xfrm>
        </p:spPr>
        <p:txBody>
          <a:bodyPr anchor="t"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600075" indent="-257175">
              <a:buFont typeface="+mj-lt"/>
              <a:buAutoNum type="arabicPeriod"/>
              <a:defRPr sz="1350"/>
            </a:lvl2pPr>
            <a:lvl3pPr marL="942975" indent="-257175">
              <a:buFont typeface="+mj-lt"/>
              <a:buAutoNum type="arabicPeriod"/>
              <a:defRPr sz="1200"/>
            </a:lvl3pPr>
            <a:lvl4pPr marL="1285875" indent="-257175">
              <a:buFont typeface="+mj-lt"/>
              <a:buAutoNum type="arabicPeriod"/>
              <a:defRPr sz="1050"/>
            </a:lvl4pPr>
            <a:lvl5pPr marL="16287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9144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9144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161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8" y="521208"/>
            <a:ext cx="4985766" cy="1865376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68799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207" y="2651760"/>
            <a:ext cx="4745736" cy="3547872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600075" indent="-257175">
              <a:buFont typeface="+mj-lt"/>
              <a:buAutoNum type="arabicPeriod"/>
              <a:defRPr sz="1350"/>
            </a:lvl2pPr>
            <a:lvl3pPr marL="942975" indent="-257175">
              <a:buFont typeface="+mj-lt"/>
              <a:buAutoNum type="arabicPeriod"/>
              <a:defRPr sz="1200"/>
            </a:lvl3pPr>
            <a:lvl4pPr marL="1285875" indent="-257175">
              <a:buFont typeface="+mj-lt"/>
              <a:buAutoNum type="arabicPeriod"/>
              <a:defRPr sz="1050"/>
            </a:lvl4pPr>
            <a:lvl5pPr marL="16287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3924" y="21031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80133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3692937" y="2452449"/>
            <a:ext cx="545106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3692937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029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4" y="2077375"/>
            <a:ext cx="3359330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95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683" y="2210543"/>
            <a:ext cx="4401970" cy="2432477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3683" y="207982"/>
            <a:ext cx="144098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3983954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706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894" y="1249960"/>
            <a:ext cx="3064434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95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8788" y="1249959"/>
            <a:ext cx="4830318" cy="523876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2890" y="207982"/>
            <a:ext cx="144098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3689060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3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157" y="749808"/>
            <a:ext cx="4831518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682746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8156" y="21348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6920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8157" y="2944369"/>
            <a:ext cx="4831519" cy="357169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682746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068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731" y="612648"/>
            <a:ext cx="5266944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25693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62731" y="210312"/>
            <a:ext cx="2648578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86724" y="210312"/>
            <a:ext cx="125973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730" y="1746504"/>
            <a:ext cx="5266944" cy="480669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25932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898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612648"/>
            <a:ext cx="526161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918713" y="207982"/>
            <a:ext cx="126187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92196" y="207982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746504"/>
            <a:ext cx="5263703" cy="480669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30195" y="0"/>
            <a:ext cx="331291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5826625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992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30" y="749808"/>
            <a:ext cx="4333670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031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76872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10570" y="210312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1993392"/>
            <a:ext cx="4333670" cy="455980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31562" y="0"/>
            <a:ext cx="421243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4927972" y="1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162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749808"/>
            <a:ext cx="309276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0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210312"/>
            <a:ext cx="1695043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71997" y="210312"/>
            <a:ext cx="793583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07648" y="210312"/>
            <a:ext cx="33072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78" y="2578610"/>
            <a:ext cx="3097955" cy="371246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84494" y="0"/>
            <a:ext cx="5459506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3680972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904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749808"/>
            <a:ext cx="8636066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0" y="2180556"/>
            <a:ext cx="3759266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7005" y="1834524"/>
            <a:ext cx="478404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4362341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947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5166364"/>
            <a:ext cx="2742398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8572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341" y="5166364"/>
            <a:ext cx="5305332" cy="1223420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6437377"/>
            <a:ext cx="22219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4341" y="6437194"/>
            <a:ext cx="341206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437376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3212569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938" y="4842106"/>
            <a:ext cx="9144938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924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8" y="762003"/>
            <a:ext cx="4959590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500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970" y="2435966"/>
            <a:ext cx="5462794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51" y="762000"/>
            <a:ext cx="3069610" cy="57912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5457825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5457825" y="1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9276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448056"/>
            <a:ext cx="863606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348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207982"/>
            <a:ext cx="409835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711" y="1700784"/>
            <a:ext cx="2488628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081" y="2130553"/>
            <a:ext cx="5978594" cy="442264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9144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2488628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5346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424" y="1188720"/>
            <a:ext cx="305181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1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6042" y="1609344"/>
            <a:ext cx="5081778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25050" dirty="0">
                <a:solidFill>
                  <a:schemeClr val="accent1"/>
                </a:solidFill>
                <a:latin typeface="+mj-lt"/>
              </a:defRPr>
            </a:lvl1pPr>
            <a:lvl2pPr marL="3429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0312"/>
            <a:ext cx="222199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25973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210312"/>
            <a:ext cx="409835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760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1133856"/>
            <a:ext cx="7989570" cy="9144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8330" y="914400"/>
            <a:ext cx="7534070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1pPr>
            <a:lvl2pPr marL="17145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2pPr>
            <a:lvl3pPr marL="342900" indent="0">
              <a:lnSpc>
                <a:spcPct val="10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3pPr>
            <a:lvl4pPr marL="514350" indent="0">
              <a:lnSpc>
                <a:spcPct val="100000"/>
              </a:lnSpc>
              <a:buNone/>
              <a:defRPr sz="4950" b="0">
                <a:solidFill>
                  <a:schemeClr val="tx2"/>
                </a:solidFill>
                <a:latin typeface="+mj-lt"/>
              </a:defRPr>
            </a:lvl4pPr>
            <a:lvl5pPr marL="685800" indent="0">
              <a:lnSpc>
                <a:spcPct val="100000"/>
              </a:lnSpc>
              <a:buNone/>
              <a:defRPr sz="45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30" y="6263640"/>
            <a:ext cx="2222769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052" y="6263640"/>
            <a:ext cx="144098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263640"/>
            <a:ext cx="409835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812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924" y="5440220"/>
            <a:ext cx="6974586" cy="1015996"/>
          </a:xfrm>
        </p:spPr>
        <p:txBody>
          <a:bodyPr anchor="ctr">
            <a:normAutofit/>
          </a:bodyPr>
          <a:lstStyle>
            <a:lvl1pPr>
              <a:defRPr sz="15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0030" y="1170817"/>
            <a:ext cx="7269480" cy="3872159"/>
          </a:xfrm>
        </p:spPr>
        <p:txBody>
          <a:bodyPr>
            <a:normAutofit/>
          </a:bodyPr>
          <a:lstStyle>
            <a:lvl1pPr marL="205740" indent="-205740">
              <a:lnSpc>
                <a:spcPct val="70000"/>
              </a:lnSpc>
              <a:buNone/>
              <a:defRPr sz="6600" cap="all" baseline="0">
                <a:solidFill>
                  <a:schemeClr val="tx2"/>
                </a:solidFill>
                <a:latin typeface="+mj-lt"/>
              </a:defRPr>
            </a:lvl1pPr>
            <a:lvl2pPr marL="205740" indent="-205740">
              <a:lnSpc>
                <a:spcPct val="70000"/>
              </a:lnSpc>
              <a:buNone/>
              <a:defRPr sz="6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05740" indent="-205740">
              <a:lnSpc>
                <a:spcPct val="70000"/>
              </a:lnSpc>
              <a:buNone/>
              <a:defRPr sz="54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05740" indent="-205740">
              <a:lnSpc>
                <a:spcPct val="70000"/>
              </a:lnSpc>
              <a:buNone/>
              <a:defRPr sz="495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05740" indent="-205740">
              <a:lnSpc>
                <a:spcPct val="70000"/>
              </a:lnSpc>
              <a:buNone/>
              <a:defRPr sz="495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0312"/>
            <a:ext cx="2221992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832841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210312"/>
            <a:ext cx="409835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9144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403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685800"/>
            <a:ext cx="8440251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8330" y="1773857"/>
            <a:ext cx="4011930" cy="44531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8740" y="1773858"/>
            <a:ext cx="4011930" cy="445312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8914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29" y="685800"/>
            <a:ext cx="8442198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330" y="1773857"/>
            <a:ext cx="4011798" cy="590144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8330" y="2368476"/>
            <a:ext cx="4011798" cy="38587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68597" y="1773857"/>
            <a:ext cx="4011930" cy="590144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68597" y="2368476"/>
            <a:ext cx="4011930" cy="38587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935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956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166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9144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832104"/>
            <a:ext cx="8440251" cy="1225296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6263640"/>
            <a:ext cx="2221992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6263640"/>
            <a:ext cx="1450165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653" y="6263640"/>
            <a:ext cx="409835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8" y="3429001"/>
            <a:ext cx="8440252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032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20" y="1270390"/>
            <a:ext cx="5947485" cy="2060888"/>
          </a:xfrm>
        </p:spPr>
        <p:txBody>
          <a:bodyPr>
            <a:normAutofit/>
          </a:bodyPr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332" y="3794762"/>
            <a:ext cx="5949574" cy="15310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8329" y="213482"/>
            <a:ext cx="2221992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76669" y="210312"/>
            <a:ext cx="125973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977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914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9" y="935798"/>
            <a:ext cx="8440251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0419" y="1707582"/>
            <a:ext cx="8440251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8330" y="207982"/>
            <a:ext cx="2222769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38" b="1" cap="all" spc="75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60052" y="207982"/>
            <a:ext cx="1440986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638" b="1" cap="all" spc="75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6653" y="207982"/>
            <a:ext cx="40983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638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7625" y="6642100"/>
            <a:ext cx="1483519" cy="115416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5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817707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algn="l" defTabSz="685800" rtl="0" eaLnBrk="1" latinLnBrk="0" hangingPunct="1">
        <a:lnSpc>
          <a:spcPct val="70000"/>
        </a:lnSpc>
        <a:spcBef>
          <a:spcPct val="0"/>
        </a:spcBef>
        <a:buNone/>
        <a:defRPr kumimoji="1" sz="3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kumimoji="1"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kumimoji="1"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kumimoji="1" sz="10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kumimoji="1" sz="10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418" y="886968"/>
            <a:ext cx="8553958" cy="1170432"/>
          </a:xfrm>
        </p:spPr>
        <p:txBody>
          <a:bodyPr anchor="b">
            <a:normAutofit/>
          </a:bodyPr>
          <a:lstStyle/>
          <a:p>
            <a:r>
              <a:rPr lang="en-US" altLang="ja-JP" sz="4600" err="1"/>
              <a:t>UploadData</a:t>
            </a:r>
            <a:r>
              <a:rPr lang="ja-JP" altLang="en-US" sz="4600"/>
              <a:t>作成ツール 自動化プロジェクト進捗報告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3573661" y="2832653"/>
            <a:ext cx="5170289" cy="3508951"/>
          </a:xfrm>
        </p:spPr>
        <p:txBody>
          <a:bodyPr anchor="t">
            <a:normAutofit/>
          </a:bodyPr>
          <a:lstStyle/>
          <a:p>
            <a:r>
              <a:rPr lang="ja-JP" altLang="en-US"/>
              <a:t>現状の仕様・実装内容と今後のテスト計画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418" y="886968"/>
            <a:ext cx="8553958" cy="1170432"/>
          </a:xfrm>
        </p:spPr>
        <p:txBody>
          <a:bodyPr anchor="b">
            <a:normAutofit/>
          </a:bodyPr>
          <a:lstStyle/>
          <a:p>
            <a:r>
              <a:rPr lang="ja-JP" altLang="en-US" sz="5100"/>
              <a:t>プロジェクトの目的と概要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3661" y="2832653"/>
            <a:ext cx="5170289" cy="3508951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  <a:spcAft>
                <a:spcPts val="2000"/>
              </a:spcAft>
              <a:defRPr sz="2000" b="1">
                <a:latin typeface="Meiryo"/>
              </a:defRPr>
            </a:pPr>
            <a:r>
              <a:rPr lang="ja-JP" altLang="en-US" sz="1400"/>
              <a:t>手作業で行っていたデータ加工作業を</a:t>
            </a:r>
            <a:r>
              <a:rPr lang="en-US" altLang="ja-JP" sz="1400"/>
              <a:t>Python</a:t>
            </a:r>
            <a:r>
              <a:rPr lang="ja-JP" altLang="en-US" sz="1400"/>
              <a:t>で完全自動化し、ヒューマンエラーを撲滅する。</a:t>
            </a:r>
          </a:p>
          <a:p>
            <a:pPr>
              <a:lnSpc>
                <a:spcPct val="110000"/>
              </a:lnSpc>
              <a:defRPr sz="1800" b="1">
                <a:latin typeface="Meiryo"/>
              </a:defRPr>
            </a:pPr>
            <a:r>
              <a:rPr lang="en-US" altLang="ja-JP" sz="1400"/>
              <a:t>【 </a:t>
            </a:r>
            <a:r>
              <a:rPr lang="ja-JP" altLang="en-US" sz="1400"/>
              <a:t>現状の課題 </a:t>
            </a:r>
            <a:r>
              <a:rPr lang="en-US" altLang="ja-JP" sz="1400"/>
              <a:t>】</a:t>
            </a:r>
          </a:p>
          <a:p>
            <a:pPr lvl="1">
              <a:lnSpc>
                <a:spcPct val="110000"/>
              </a:lnSpc>
              <a:defRPr sz="1600" b="0">
                <a:latin typeface="Meiryo"/>
              </a:defRPr>
            </a:pPr>
            <a:r>
              <a:rPr lang="ja-JP" altLang="en-US" sz="1400"/>
              <a:t>・</a:t>
            </a:r>
            <a:r>
              <a:rPr lang="en-US" altLang="ja-JP" sz="1400"/>
              <a:t>VLOOKUP</a:t>
            </a:r>
            <a:r>
              <a:rPr lang="ja-JP" altLang="en-US" sz="1400"/>
              <a:t>による手動マージや、除外作業による行ズレやミス</a:t>
            </a:r>
          </a:p>
          <a:p>
            <a:pPr lvl="1">
              <a:lnSpc>
                <a:spcPct val="110000"/>
              </a:lnSpc>
              <a:defRPr sz="1600" b="0">
                <a:latin typeface="Meiryo"/>
              </a:defRPr>
            </a:pPr>
            <a:r>
              <a:rPr lang="ja-JP" altLang="en-US" sz="1400"/>
              <a:t>・イベントごとのシート分割や文字数制限の調整が手作業で煩雑</a:t>
            </a:r>
          </a:p>
          <a:p>
            <a:pPr>
              <a:lnSpc>
                <a:spcPct val="110000"/>
              </a:lnSpc>
              <a:spcBef>
                <a:spcPts val="2000"/>
              </a:spcBef>
              <a:defRPr sz="1800" b="1">
                <a:latin typeface="Meiryo"/>
              </a:defRPr>
            </a:pPr>
            <a:r>
              <a:rPr lang="en-US" altLang="ja-JP" sz="1400"/>
              <a:t>【 </a:t>
            </a:r>
            <a:r>
              <a:rPr lang="ja-JP" altLang="en-US" sz="1400"/>
              <a:t>自動化による解決策 </a:t>
            </a:r>
            <a:r>
              <a:rPr lang="en-US" altLang="ja-JP" sz="1400"/>
              <a:t>】</a:t>
            </a:r>
          </a:p>
          <a:p>
            <a:pPr lvl="1">
              <a:lnSpc>
                <a:spcPct val="110000"/>
              </a:lnSpc>
              <a:defRPr sz="1600" b="0">
                <a:latin typeface="Meiryo"/>
              </a:defRPr>
            </a:pPr>
            <a:r>
              <a:rPr lang="ja-JP" altLang="en-US" sz="1400"/>
              <a:t>・全</a:t>
            </a:r>
            <a:r>
              <a:rPr lang="en-US" altLang="ja-JP" sz="1400"/>
              <a:t>8</a:t>
            </a:r>
            <a:r>
              <a:rPr lang="ja-JP" altLang="en-US" sz="1400"/>
              <a:t>工程におよぶ複雑な条件処理を</a:t>
            </a:r>
            <a:r>
              <a:rPr lang="en-US" altLang="ja-JP" sz="1400"/>
              <a:t>Python</a:t>
            </a:r>
            <a:r>
              <a:rPr lang="ja-JP" altLang="en-US" sz="1400"/>
              <a:t>で自動化</a:t>
            </a:r>
          </a:p>
          <a:p>
            <a:pPr lvl="1">
              <a:lnSpc>
                <a:spcPct val="110000"/>
              </a:lnSpc>
              <a:defRPr sz="1600" b="0">
                <a:latin typeface="Meiryo"/>
              </a:defRPr>
            </a:pPr>
            <a:r>
              <a:rPr lang="ja-JP" altLang="en-US" sz="1400"/>
              <a:t>・対話型の</a:t>
            </a:r>
            <a:r>
              <a:rPr lang="en-US" altLang="ja-JP" sz="1400"/>
              <a:t>UI</a:t>
            </a:r>
            <a:r>
              <a:rPr lang="ja-JP" altLang="en-US" sz="1400"/>
              <a:t>を導入し、担当者が迷わず安全に操作できる環境を構築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" y="1249960"/>
            <a:ext cx="3064434" cy="5125673"/>
          </a:xfrm>
        </p:spPr>
        <p:txBody>
          <a:bodyPr anchor="t">
            <a:normAutofit/>
          </a:bodyPr>
          <a:lstStyle/>
          <a:p>
            <a:r>
              <a:t>実装済みの仕様と処理フロー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8788" y="1249959"/>
            <a:ext cx="4830318" cy="5238764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  <a:defRPr sz="1800" b="1">
                <a:latin typeface="Meiryo"/>
              </a:defRPr>
            </a:pPr>
            <a:r>
              <a:t>全8工程のバックエンド処理ロジックの実装が完了しています。</a:t>
            </a:r>
          </a:p>
          <a:p>
            <a:pPr>
              <a:defRPr sz="1400" b="0">
                <a:latin typeface="Meiryo"/>
              </a:defRPr>
            </a:pPr>
            <a:r>
              <a:t>1. 更新除外データの削除 (キー: 品目cd/注文番号)</a:t>
            </a:r>
          </a:p>
          <a:p>
            <a:pPr>
              <a:defRPr sz="1400" b="0">
                <a:latin typeface="Meiryo"/>
              </a:defRPr>
            </a:pPr>
            <a:r>
              <a:t>2. 取り寄せ品の除外 (在庫数=0, 未引当&gt;=1 を除外)</a:t>
            </a:r>
          </a:p>
          <a:p>
            <a:pPr>
              <a:defRPr sz="1400" b="0">
                <a:latin typeface="Meiryo"/>
              </a:defRPr>
            </a:pPr>
            <a:r>
              <a:t>3. 医薬品の除外 (分類cd=40)</a:t>
            </a:r>
          </a:p>
          <a:p>
            <a:pPr>
              <a:defRPr sz="1400" b="0">
                <a:latin typeface="Meiryo"/>
              </a:defRPr>
            </a:pPr>
            <a:r>
              <a:t>4. 特定文字列の削除 (足し算列から特定のタグを削除)</a:t>
            </a:r>
          </a:p>
          <a:p>
            <a:pPr>
              <a:defRPr sz="1400" b="0">
                <a:latin typeface="Meiryo"/>
              </a:defRPr>
            </a:pPr>
            <a:r>
              <a:t>5. 送料無料の付与 (倉庫cd=2 の対象に付与)</a:t>
            </a:r>
          </a:p>
          <a:p>
            <a:pPr>
              <a:defRPr sz="1400" b="0">
                <a:latin typeface="Meiryo"/>
              </a:defRPr>
            </a:pPr>
            <a:r>
              <a:t>6. イベント別キーワード付与 (JSONとCSVから動的にシート分割)</a:t>
            </a:r>
          </a:p>
          <a:p>
            <a:pPr>
              <a:defRPr sz="1400" b="0">
                <a:latin typeface="Meiryo"/>
              </a:defRPr>
            </a:pPr>
            <a:r>
              <a:t>7. 文字数制限の調整 (楽天用 255バイト制限での自動カット)</a:t>
            </a:r>
          </a:p>
          <a:p>
            <a:pPr>
              <a:defRPr sz="1400" b="0">
                <a:latin typeface="Meiryo"/>
              </a:defRPr>
            </a:pPr>
            <a:r>
              <a:t>8. 最終フォーマット調整 (normal item形式での出力)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" y="1249960"/>
            <a:ext cx="3064434" cy="5125673"/>
          </a:xfrm>
        </p:spPr>
        <p:txBody>
          <a:bodyPr anchor="t">
            <a:normAutofit/>
          </a:bodyPr>
          <a:lstStyle/>
          <a:p>
            <a:r>
              <a:rPr lang="ja-JP" altLang="en-US"/>
              <a:t>対話型</a:t>
            </a:r>
            <a:r>
              <a:rPr lang="en-US" altLang="ja-JP"/>
              <a:t>UI</a:t>
            </a:r>
            <a:r>
              <a:rPr lang="ja-JP" altLang="en-US"/>
              <a:t>（ウィザード）の実装</a:t>
            </a:r>
          </a:p>
        </p:txBody>
      </p:sp>
      <p:graphicFrame>
        <p:nvGraphicFramePr>
          <p:cNvPr id="47" name="Content Placeholder 2">
            <a:extLst>
              <a:ext uri="{FF2B5EF4-FFF2-40B4-BE49-F238E27FC236}">
                <a16:creationId xmlns:a16="http://schemas.microsoft.com/office/drawing/2014/main" id="{CF10A4F8-9345-F27F-719A-5978EBEB32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7003323"/>
              </p:ext>
            </p:extLst>
          </p:nvPr>
        </p:nvGraphicFramePr>
        <p:xfrm>
          <a:off x="294894" y="3812796"/>
          <a:ext cx="3130949" cy="2653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8" name="図 27">
            <a:extLst>
              <a:ext uri="{FF2B5EF4-FFF2-40B4-BE49-F238E27FC236}">
                <a16:creationId xmlns:a16="http://schemas.microsoft.com/office/drawing/2014/main" id="{9985F475-9DB4-60BE-0075-9940A2287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4816" y="912694"/>
            <a:ext cx="5043958" cy="40933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418" y="886968"/>
            <a:ext cx="8553958" cy="1170432"/>
          </a:xfrm>
        </p:spPr>
        <p:txBody>
          <a:bodyPr anchor="b">
            <a:normAutofit/>
          </a:bodyPr>
          <a:lstStyle/>
          <a:p>
            <a:r>
              <a:rPr lang="ja-JP" altLang="en-US" sz="4600"/>
              <a:t>今後のテスト計画・答え合わせ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3661" y="2832653"/>
            <a:ext cx="5170289" cy="3508951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defRPr sz="1800" b="1">
                <a:latin typeface="Meiryo"/>
              </a:defRPr>
            </a:pPr>
            <a:r>
              <a:rPr dirty="0" err="1"/>
              <a:t>自動化ロジックの正確性を担保するため、以下の並行テストを実施します</a:t>
            </a:r>
            <a:r>
              <a:rPr dirty="0"/>
              <a:t>。</a:t>
            </a:r>
            <a:endParaRPr lang="ja-JP" altLang="en-US"/>
          </a:p>
          <a:p>
            <a:pPr>
              <a:lnSpc>
                <a:spcPct val="110000"/>
              </a:lnSpc>
              <a:defRPr sz="1600" b="1">
                <a:latin typeface="Meiryo"/>
              </a:defRPr>
            </a:pPr>
            <a:r>
              <a:rPr dirty="0"/>
              <a:t>1. </a:t>
            </a:r>
            <a:r>
              <a:rPr dirty="0" err="1"/>
              <a:t>サンプルデータの準備</a:t>
            </a:r>
            <a:endParaRPr lang="ja-JP" altLang="en-US"/>
          </a:p>
          <a:p>
            <a:pPr lvl="1">
              <a:lnSpc>
                <a:spcPct val="110000"/>
              </a:lnSpc>
              <a:defRPr sz="1400" b="0">
                <a:latin typeface="Meiryo"/>
              </a:defRPr>
            </a:pPr>
            <a:r>
              <a:rPr lang="ja-JP" altLang="en-US" sz="1500"/>
              <a:t>・</a:t>
            </a:r>
            <a:r>
              <a:rPr lang="ja-JP" altLang="en-US" sz="1500" err="1"/>
              <a:t>尾島氏より提供される圧縮サンプルテストデータを使用</a:t>
            </a:r>
            <a:endParaRPr lang="ja-JP" altLang="en-US" sz="1500"/>
          </a:p>
          <a:p>
            <a:pPr>
              <a:lnSpc>
                <a:spcPct val="110000"/>
              </a:lnSpc>
              <a:spcBef>
                <a:spcPts val="1000"/>
              </a:spcBef>
              <a:defRPr sz="1600" b="1">
                <a:latin typeface="Meiryo"/>
              </a:defRPr>
            </a:pPr>
            <a:r>
              <a:rPr dirty="0"/>
              <a:t>2. </a:t>
            </a:r>
            <a:r>
              <a:rPr dirty="0" err="1"/>
              <a:t>処理の並行実行</a:t>
            </a:r>
            <a:endParaRPr lang="ja-JP" altLang="en-US"/>
          </a:p>
          <a:p>
            <a:pPr lvl="1">
              <a:lnSpc>
                <a:spcPct val="110000"/>
              </a:lnSpc>
              <a:defRPr sz="1400" b="0">
                <a:latin typeface="Meiryo"/>
              </a:defRPr>
            </a:pPr>
            <a:r>
              <a:rPr lang="ja-JP" altLang="en-US" sz="1500"/>
              <a:t>・</a:t>
            </a:r>
            <a:r>
              <a:rPr lang="en-US" altLang="ja-JP" sz="1500"/>
              <a:t>【</a:t>
            </a:r>
            <a:r>
              <a:rPr lang="ja-JP" altLang="en-US" sz="1500"/>
              <a:t>担当者</a:t>
            </a:r>
            <a:r>
              <a:rPr lang="en-US" altLang="ja-JP" sz="1500"/>
              <a:t>】</a:t>
            </a:r>
            <a:r>
              <a:rPr lang="ja-JP" altLang="en-US" sz="1500" err="1"/>
              <a:t>手作業で従来通りの加工を実施</a:t>
            </a:r>
            <a:br>
              <a:rPr lang="ja-JP" altLang="en-US" sz="1500"/>
            </a:br>
            <a:r>
              <a:rPr lang="ja-JP" altLang="en-US" sz="1500"/>
              <a:t>・</a:t>
            </a:r>
            <a:r>
              <a:rPr lang="en-US" altLang="ja-JP" sz="1500"/>
              <a:t>【</a:t>
            </a:r>
            <a:r>
              <a:rPr lang="ja-JP" altLang="en-US" sz="1500"/>
              <a:t>システム</a:t>
            </a:r>
            <a:r>
              <a:rPr lang="en-US" altLang="ja-JP" sz="1500"/>
              <a:t>】</a:t>
            </a:r>
            <a:r>
              <a:rPr lang="en-US" altLang="ja-JP" sz="1500" err="1"/>
              <a:t>Python</a:t>
            </a:r>
            <a:r>
              <a:rPr lang="ja-JP" altLang="en-US" sz="1500" err="1"/>
              <a:t>プログラムで加工を実施</a:t>
            </a:r>
            <a:endParaRPr lang="ja-JP" altLang="en-US" sz="1500"/>
          </a:p>
          <a:p>
            <a:pPr>
              <a:lnSpc>
                <a:spcPct val="110000"/>
              </a:lnSpc>
              <a:spcBef>
                <a:spcPts val="1000"/>
              </a:spcBef>
              <a:defRPr sz="1600" b="1">
                <a:latin typeface="Meiryo"/>
              </a:defRPr>
            </a:pPr>
            <a:r>
              <a:rPr dirty="0"/>
              <a:t>3. </a:t>
            </a:r>
            <a:r>
              <a:rPr dirty="0" err="1"/>
              <a:t>答え合わせ（結果の突合</a:t>
            </a:r>
            <a:r>
              <a:rPr dirty="0"/>
              <a:t>）</a:t>
            </a:r>
            <a:endParaRPr lang="ja-JP" altLang="en-US"/>
          </a:p>
          <a:p>
            <a:pPr lvl="1">
              <a:lnSpc>
                <a:spcPct val="110000"/>
              </a:lnSpc>
              <a:defRPr sz="1400" b="0">
                <a:latin typeface="Meiryo"/>
              </a:defRPr>
            </a:pPr>
            <a:r>
              <a:rPr lang="ja-JP" altLang="en-US" sz="1500"/>
              <a:t>・</a:t>
            </a:r>
            <a:r>
              <a:rPr lang="ja-JP" altLang="en-US" sz="1500" err="1"/>
              <a:t>手作業の結果とプログラムの出力結果を比較し、データの欠落やズレがないか検証</a:t>
            </a:r>
            <a:endParaRPr lang="ja-JP" alt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エディトリアル">
  <a:themeElements>
    <a:clrScheme name="エディトリアル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17</TotalTime>
  <Words>295</Words>
  <Application>Microsoft Office PowerPoint</Application>
  <PresentationFormat>画面に合わせる (4:3)</PresentationFormat>
  <Paragraphs>32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Aptos</vt:lpstr>
      <vt:lpstr>Arial</vt:lpstr>
      <vt:lpstr>Haettenschweiler</vt:lpstr>
      <vt:lpstr>Trade Gothic Next Light</vt:lpstr>
      <vt:lpstr>エディトリアル</vt:lpstr>
      <vt:lpstr>UploadData作成ツール 自動化プロジェクト進捗報告</vt:lpstr>
      <vt:lpstr>プロジェクトの目的と概要</vt:lpstr>
      <vt:lpstr>実装済みの仕様と処理フロー</vt:lpstr>
      <vt:lpstr>対話型UI（ウィザード）の実装</vt:lpstr>
      <vt:lpstr>今後のテスト計画・答え合わせ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伊藤 健人</cp:lastModifiedBy>
  <cp:revision>2</cp:revision>
  <dcterms:created xsi:type="dcterms:W3CDTF">2013-01-27T09:14:16Z</dcterms:created>
  <dcterms:modified xsi:type="dcterms:W3CDTF">2026-08-19T04:59:02Z</dcterms:modified>
  <cp:category/>
</cp:coreProperties>
</file>